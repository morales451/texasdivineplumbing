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51560"/>
          </a:xfrm>
          <a:prstGeom prst="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51560"/>
            <a:ext cx="12191695" cy="50800"/>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9144000" cy="502920"/>
          </a:xfrm>
          <a:prstGeom prst="rect">
            <a:avLst/>
          </a:prstGeom>
          <a:noFill/>
        </p:spPr>
        <p:txBody>
          <a:bodyPr wrap="square">
            <a:spAutoFit/>
          </a:bodyPr>
          <a:lstStyle/>
          <a:p>
            <a:pPr algn="l">
              <a:spcAft>
                <a:spcPts val="400"/>
              </a:spcAft>
              <a:defRPr sz="2600" b="1">
                <a:solidFill>
                  <a:srgbClr val="FFFFFF"/>
                </a:solidFill>
              </a:defRPr>
            </a:pPr>
            <a:r>
              <a:t>Value Proposition – Turning Velocity into Value</a:t>
            </a:r>
          </a:p>
        </p:txBody>
      </p:sp>
      <p:sp>
        <p:nvSpPr>
          <p:cNvPr id="6" name="TextBox 5"/>
          <p:cNvSpPr txBox="1"/>
          <p:nvPr/>
        </p:nvSpPr>
        <p:spPr>
          <a:xfrm>
            <a:off x="457200" y="566928"/>
            <a:ext cx="10972800" cy="438912"/>
          </a:xfrm>
          <a:prstGeom prst="rect">
            <a:avLst/>
          </a:prstGeom>
          <a:noFill/>
        </p:spPr>
        <p:txBody>
          <a:bodyPr wrap="square">
            <a:spAutoFit/>
          </a:bodyPr>
          <a:lstStyle/>
          <a:p>
            <a:pPr algn="l">
              <a:spcAft>
                <a:spcPts val="400"/>
              </a:spcAft>
              <a:defRPr sz="1200" b="0">
                <a:solidFill>
                  <a:srgbClr val="E8ECF1"/>
                </a:solidFill>
              </a:defRPr>
            </a:pPr>
            <a:r>
              <a:t>Synchronized realignment of TDP’s operations, marketing, and workforce is the only sustainable path to exceeding the $2M revenue target.</a:t>
            </a:r>
          </a:p>
        </p:txBody>
      </p:sp>
      <p:sp>
        <p:nvSpPr>
          <p:cNvPr id="7" name="TextBox 6"/>
          <p:cNvSpPr txBox="1"/>
          <p:nvPr/>
        </p:nvSpPr>
        <p:spPr>
          <a:xfrm>
            <a:off x="10241280" y="182880"/>
            <a:ext cx="1645920" cy="411480"/>
          </a:xfrm>
          <a:prstGeom prst="rect">
            <a:avLst/>
          </a:prstGeom>
          <a:noFill/>
        </p:spPr>
        <p:txBody>
          <a:bodyPr wrap="none">
            <a:spAutoFit/>
          </a:bodyPr>
          <a:lstStyle/>
          <a:p>
            <a:pPr algn="r"/>
            <a:r>
              <a:rPr sz="1000" b="1">
                <a:solidFill>
                  <a:srgbClr val="D4A01E"/>
                </a:solidFill>
              </a:rPr>
              <a:t>TEXAS DIVINE</a:t>
            </a:r>
          </a:p>
          <a:p>
            <a:pPr algn="r"/>
            <a:r>
              <a:rPr sz="900" b="0">
                <a:solidFill>
                  <a:srgbClr val="E8ECF1"/>
                </a:solidFill>
              </a:rPr>
              <a:t>PLUMBING</a:t>
            </a:r>
          </a:p>
        </p:txBody>
      </p:sp>
      <p:sp>
        <p:nvSpPr>
          <p:cNvPr id="8" name="Rounded Rectangle 7"/>
          <p:cNvSpPr/>
          <p:nvPr/>
        </p:nvSpPr>
        <p:spPr>
          <a:xfrm>
            <a:off x="457200" y="1325880"/>
            <a:ext cx="5501487" cy="4434840"/>
          </a:xfrm>
          <a:prstGeom prst="roundRect">
            <a:avLst/>
          </a:prstGeom>
          <a:solidFill>
            <a:srgbClr val="F7F9FC"/>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4360" y="1399032"/>
            <a:ext cx="63500" cy="320040"/>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399032"/>
            <a:ext cx="5044287" cy="320040"/>
          </a:xfrm>
          <a:prstGeom prst="rect">
            <a:avLst/>
          </a:prstGeom>
          <a:noFill/>
        </p:spPr>
        <p:txBody>
          <a:bodyPr wrap="square">
            <a:spAutoFit/>
          </a:bodyPr>
          <a:lstStyle/>
          <a:p>
            <a:pPr algn="l">
              <a:spcAft>
                <a:spcPts val="400"/>
              </a:spcAft>
              <a:defRPr sz="1400" b="1">
                <a:solidFill>
                  <a:srgbClr val="0B1D3A"/>
                </a:solidFill>
              </a:defRPr>
            </a:pPr>
            <a:r>
              <a:t>QUANTITATIVE  –  The Hard ROI</a:t>
            </a:r>
          </a:p>
        </p:txBody>
      </p:sp>
      <p:sp>
        <p:nvSpPr>
          <p:cNvPr id="11" name="TextBox 10"/>
          <p:cNvSpPr txBox="1"/>
          <p:nvPr/>
        </p:nvSpPr>
        <p:spPr>
          <a:xfrm>
            <a:off x="685800" y="1764792"/>
            <a:ext cx="5044287" cy="3931920"/>
          </a:xfrm>
          <a:prstGeom prst="rect">
            <a:avLst/>
          </a:prstGeom>
          <a:noFill/>
        </p:spPr>
        <p:txBody>
          <a:bodyPr wrap="square"/>
          <a:lstStyle/>
          <a:p>
            <a:pPr algn="l">
              <a:spcAft>
                <a:spcPts val="200"/>
              </a:spcAft>
              <a:defRPr sz="1100" b="1">
                <a:solidFill>
                  <a:srgbClr val="1A5C8A"/>
                </a:solidFill>
              </a:defRPr>
            </a:pPr>
            <a:r>
              <a:t>Activating the "Growth Reserve"</a:t>
            </a:r>
          </a:p>
          <a:p>
            <a:pPr>
              <a:spcAft>
                <a:spcPts val="300"/>
              </a:spcAft>
              <a:defRPr sz="950" b="0">
                <a:solidFill>
                  <a:srgbClr val="2C3E50"/>
                </a:solidFill>
              </a:defRPr>
            </a:pPr>
            <a:r>
              <a:t>TDP currently at 75% utilization on $1.25M revenue base</a:t>
            </a:r>
          </a:p>
          <a:p>
            <a:pPr>
              <a:spcAft>
                <a:spcPts val="600"/>
              </a:spcAft>
              <a:defRPr sz="950" b="0">
                <a:solidFill>
                  <a:srgbClr val="2C3E50"/>
                </a:solidFill>
              </a:defRPr>
            </a:pPr>
            <a:r>
              <a:t>Filling 25% latent capacity with high-margin commercial work adds ~$415k annual revenue — no additional CapEx required</a:t>
            </a:r>
          </a:p>
          <a:p>
            <a:pPr algn="l">
              <a:spcBef>
                <a:spcPts val="400"/>
              </a:spcBef>
              <a:spcAft>
                <a:spcPts val="200"/>
              </a:spcAft>
              <a:defRPr sz="1100" b="1" i="0">
                <a:solidFill>
                  <a:srgbClr val="1A5C8A"/>
                </a:solidFill>
              </a:defRPr>
            </a:pPr>
            <a:r>
              <a:t>Self-Funding System Implementation</a:t>
            </a:r>
          </a:p>
          <a:p>
            <a:pPr>
              <a:spcAft>
                <a:spcPts val="300"/>
              </a:spcAft>
              <a:defRPr sz="950" b="0">
                <a:solidFill>
                  <a:srgbClr val="2C3E50"/>
                </a:solidFill>
              </a:defRPr>
            </a:pPr>
            <a:r>
              <a:t>Procurement Savings: "Validated Pricing" + bulk staging projected to reduce material COGS by 10–12%</a:t>
            </a:r>
          </a:p>
          <a:p>
            <a:pPr>
              <a:spcAft>
                <a:spcPts val="300"/>
              </a:spcAft>
              <a:defRPr sz="950" b="0">
                <a:solidFill>
                  <a:srgbClr val="2C3E50"/>
                </a:solidFill>
              </a:defRPr>
            </a:pPr>
            <a:r>
              <a:t>Impact: ~$50k annual savings fully covers STACK subscription + part-time Director of Operations</a:t>
            </a:r>
          </a:p>
          <a:p>
            <a:pPr>
              <a:spcAft>
                <a:spcPts val="600"/>
              </a:spcAft>
              <a:defRPr sz="950" b="0">
                <a:solidFill>
                  <a:srgbClr val="2C3E50"/>
                </a:solidFill>
              </a:defRPr>
            </a:pPr>
            <a:r>
              <a:t>Result: "Digital Brain" becomes a cost-neutral investment</a:t>
            </a:r>
          </a:p>
          <a:p>
            <a:pPr algn="l">
              <a:spcBef>
                <a:spcPts val="400"/>
              </a:spcBef>
              <a:spcAft>
                <a:spcPts val="200"/>
              </a:spcAft>
              <a:defRPr sz="1100" b="1" i="0">
                <a:solidFill>
                  <a:srgbClr val="1A5C8A"/>
                </a:solidFill>
              </a:defRPr>
            </a:pPr>
            <a:r>
              <a:t>The Velocity Multiplier</a:t>
            </a:r>
          </a:p>
          <a:p>
            <a:pPr>
              <a:spcAft>
                <a:spcPts val="300"/>
              </a:spcAft>
              <a:defRPr sz="950" b="0">
                <a:solidFill>
                  <a:srgbClr val="2C3E50"/>
                </a:solidFill>
              </a:defRPr>
            </a:pPr>
            <a:r>
              <a:t>"3-Day Underground" rule enables 3× more project starts/year vs. standard 10-day cycles</a:t>
            </a:r>
          </a:p>
          <a:p>
            <a:pPr>
              <a:spcAft>
                <a:spcPts val="600"/>
              </a:spcAft>
              <a:defRPr sz="950" b="0">
                <a:solidFill>
                  <a:srgbClr val="2C3E50"/>
                </a:solidFill>
              </a:defRPr>
            </a:pPr>
            <a:r>
              <a:t>Bid more aggressively on high-spec retail contracts while maintaining 45–50% gross margins</a:t>
            </a:r>
          </a:p>
          <a:p>
            <a:pPr algn="l">
              <a:spcBef>
                <a:spcPts val="400"/>
              </a:spcBef>
              <a:spcAft>
                <a:spcPts val="200"/>
              </a:spcAft>
              <a:defRPr sz="1100" b="1" i="0">
                <a:solidFill>
                  <a:srgbClr val="1A5C8A"/>
                </a:solidFill>
              </a:defRPr>
            </a:pPr>
            <a:r>
              <a:t>Bid-Throughput ROI</a:t>
            </a:r>
          </a:p>
          <a:p>
            <a:pPr>
              <a:spcAft>
                <a:spcPts val="300"/>
              </a:spcAft>
              <a:defRPr sz="950" b="0">
                <a:solidFill>
                  <a:srgbClr val="2C3E50"/>
                </a:solidFill>
              </a:defRPr>
            </a:pPr>
            <a:r>
              <a:t>Automated takeoffs reduce manual bid time by 80%</a:t>
            </a:r>
          </a:p>
          <a:p>
            <a:pPr>
              <a:spcAft>
                <a:spcPts val="300"/>
              </a:spcAft>
              <a:defRPr sz="950" b="0">
                <a:solidFill>
                  <a:srgbClr val="2C3E50"/>
                </a:solidFill>
              </a:defRPr>
            </a:pPr>
            <a:r>
              <a:t>Returns 40+ hrs/month of leadership time to Trino &amp; Hector for GC networking</a:t>
            </a:r>
          </a:p>
        </p:txBody>
      </p:sp>
      <p:sp>
        <p:nvSpPr>
          <p:cNvPr id="12" name="Rounded Rectangle 11"/>
          <p:cNvSpPr/>
          <p:nvPr/>
        </p:nvSpPr>
        <p:spPr>
          <a:xfrm>
            <a:off x="6233007" y="1325880"/>
            <a:ext cx="5501487" cy="4434840"/>
          </a:xfrm>
          <a:prstGeom prst="roundRect">
            <a:avLst/>
          </a:prstGeom>
          <a:solidFill>
            <a:srgbClr val="F7F9FC"/>
          </a:solidFill>
          <a:ln w="1270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70167" y="1399032"/>
            <a:ext cx="63500" cy="320040"/>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53047" y="1399032"/>
            <a:ext cx="5044287" cy="320040"/>
          </a:xfrm>
          <a:prstGeom prst="rect">
            <a:avLst/>
          </a:prstGeom>
          <a:noFill/>
        </p:spPr>
        <p:txBody>
          <a:bodyPr wrap="square">
            <a:spAutoFit/>
          </a:bodyPr>
          <a:lstStyle/>
          <a:p>
            <a:pPr algn="l">
              <a:spcAft>
                <a:spcPts val="400"/>
              </a:spcAft>
              <a:defRPr sz="1400" b="1">
                <a:solidFill>
                  <a:srgbClr val="0B1D3A"/>
                </a:solidFill>
              </a:defRPr>
            </a:pPr>
            <a:r>
              <a:t>QUALITATIVE  –  The Strategic Shield</a:t>
            </a:r>
          </a:p>
        </p:txBody>
      </p:sp>
      <p:sp>
        <p:nvSpPr>
          <p:cNvPr id="15" name="TextBox 14"/>
          <p:cNvSpPr txBox="1"/>
          <p:nvPr/>
        </p:nvSpPr>
        <p:spPr>
          <a:xfrm>
            <a:off x="6461607" y="1764792"/>
            <a:ext cx="5044287" cy="3931920"/>
          </a:xfrm>
          <a:prstGeom prst="rect">
            <a:avLst/>
          </a:prstGeom>
          <a:noFill/>
        </p:spPr>
        <p:txBody>
          <a:bodyPr wrap="square"/>
          <a:lstStyle/>
          <a:p>
            <a:pPr algn="l">
              <a:spcAft>
                <a:spcPts val="200"/>
              </a:spcAft>
              <a:defRPr sz="1100" b="1">
                <a:solidFill>
                  <a:srgbClr val="1A5C8A"/>
                </a:solidFill>
              </a:defRPr>
            </a:pPr>
            <a:r>
              <a:t>Passing the "90-Day Test"</a:t>
            </a:r>
          </a:p>
          <a:p>
            <a:pPr>
              <a:spcAft>
                <a:spcPts val="300"/>
              </a:spcAft>
              <a:defRPr sz="950" b="0">
                <a:solidFill>
                  <a:srgbClr val="2C3E50"/>
                </a:solidFill>
              </a:defRPr>
            </a:pPr>
            <a:r>
              <a:t>Transition from "Tribal Knowledge" to "Institutional Intelligence"</a:t>
            </a:r>
          </a:p>
          <a:p>
            <a:pPr>
              <a:spcAft>
                <a:spcPts val="600"/>
              </a:spcAft>
              <a:defRPr sz="950" b="0">
                <a:solidFill>
                  <a:srgbClr val="2C3E50"/>
                </a:solidFill>
              </a:defRPr>
            </a:pPr>
            <a:r>
              <a:t>Documenting SOPs + digitalizing Hector’s precision logic keeps business operational without founders’ constant presence</a:t>
            </a:r>
          </a:p>
          <a:p>
            <a:pPr algn="l">
              <a:spcBef>
                <a:spcPts val="400"/>
              </a:spcBef>
              <a:spcAft>
                <a:spcPts val="200"/>
              </a:spcAft>
              <a:defRPr sz="1100" b="1" i="0">
                <a:solidFill>
                  <a:srgbClr val="1A5C8A"/>
                </a:solidFill>
              </a:defRPr>
            </a:pPr>
            <a:r>
              <a:t>De-Risking the Revenue Engine</a:t>
            </a:r>
          </a:p>
          <a:p>
            <a:pPr>
              <a:spcAft>
                <a:spcPts val="300"/>
              </a:spcAft>
              <a:defRPr sz="950" b="0">
                <a:solidFill>
                  <a:srgbClr val="2C3E50"/>
                </a:solidFill>
              </a:defRPr>
            </a:pPr>
            <a:r>
              <a:t>"Rule of Three" portfolio: no GC exceeds 33% of revenue — eliminates Wier Enterprises dependency risk</a:t>
            </a:r>
          </a:p>
          <a:p>
            <a:pPr>
              <a:spcAft>
                <a:spcPts val="600"/>
              </a:spcAft>
              <a:defRPr sz="950" b="0">
                <a:solidFill>
                  <a:srgbClr val="2C3E50"/>
                </a:solidFill>
              </a:defRPr>
            </a:pPr>
            <a:r>
              <a:t>TDP evolves from "High-Risk Subcontractor" to "Stable Commercial Platform"</a:t>
            </a:r>
          </a:p>
          <a:p>
            <a:pPr algn="l">
              <a:spcBef>
                <a:spcPts val="400"/>
              </a:spcBef>
              <a:spcAft>
                <a:spcPts val="200"/>
              </a:spcAft>
              <a:defRPr sz="1100" b="1" i="0">
                <a:solidFill>
                  <a:srgbClr val="1A5C8A"/>
                </a:solidFill>
              </a:defRPr>
            </a:pPr>
            <a:r>
              <a:t>The "Social Proof" Advantage</a:t>
            </a:r>
          </a:p>
          <a:p>
            <a:pPr>
              <a:spcAft>
                <a:spcPts val="300"/>
              </a:spcAft>
              <a:defRPr sz="950" b="0">
                <a:solidFill>
                  <a:srgbClr val="2C3E50"/>
                </a:solidFill>
              </a:defRPr>
            </a:pPr>
            <a:r>
              <a:t>Pre-Pour Portfolio (time-stamped photo capture) provides undeniable evidence to win Tier-1 GCs (Linbeck, Bellows)</a:t>
            </a:r>
          </a:p>
          <a:p>
            <a:pPr>
              <a:spcAft>
                <a:spcPts val="600"/>
              </a:spcAft>
              <a:defRPr sz="950" b="0">
                <a:solidFill>
                  <a:srgbClr val="2C3E50"/>
                </a:solidFill>
              </a:defRPr>
            </a:pPr>
            <a:r>
              <a:t>Transforms brand from "family shop" to "precision engineering partner" — removes GC fear of rework</a:t>
            </a:r>
          </a:p>
          <a:p>
            <a:pPr algn="l">
              <a:spcBef>
                <a:spcPts val="400"/>
              </a:spcBef>
              <a:spcAft>
                <a:spcPts val="200"/>
              </a:spcAft>
              <a:defRPr sz="1100" b="1" i="0">
                <a:solidFill>
                  <a:srgbClr val="1A5C8A"/>
                </a:solidFill>
              </a:defRPr>
            </a:pPr>
            <a:r>
              <a:t>Defensible Talent Pipeline</a:t>
            </a:r>
          </a:p>
          <a:p>
            <a:pPr>
              <a:spcAft>
                <a:spcPts val="300"/>
              </a:spcAft>
              <a:defRPr sz="950" b="0">
                <a:solidFill>
                  <a:srgbClr val="2C3E50"/>
                </a:solidFill>
              </a:defRPr>
            </a:pPr>
            <a:r>
              <a:t>Professionalized org structure + W-2 transition makes TDP the employer of choice</a:t>
            </a:r>
          </a:p>
          <a:p>
            <a:pPr>
              <a:spcAft>
                <a:spcPts val="300"/>
              </a:spcAft>
              <a:defRPr sz="950" b="0">
                <a:solidFill>
                  <a:srgbClr val="2C3E50"/>
                </a:solidFill>
              </a:defRPr>
            </a:pPr>
            <a:r>
              <a:t>Critical in a market facing a shortage of 500k plumbers</a:t>
            </a:r>
          </a:p>
        </p:txBody>
      </p:sp>
      <p:sp>
        <p:nvSpPr>
          <p:cNvPr id="16" name="Rounded Rectangle 15"/>
          <p:cNvSpPr/>
          <p:nvPr/>
        </p:nvSpPr>
        <p:spPr>
          <a:xfrm>
            <a:off x="457200" y="5897880"/>
            <a:ext cx="2145731" cy="4114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5923280"/>
            <a:ext cx="2054291" cy="25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5974080"/>
            <a:ext cx="2145731" cy="335280"/>
          </a:xfrm>
          <a:prstGeom prst="rect">
            <a:avLst/>
          </a:prstGeom>
          <a:noFill/>
        </p:spPr>
        <p:txBody>
          <a:bodyPr wrap="none">
            <a:spAutoFit/>
          </a:bodyPr>
          <a:lstStyle/>
          <a:p>
            <a:pPr algn="ctr"/>
            <a:r>
              <a:rPr sz="1300" b="1">
                <a:solidFill>
                  <a:srgbClr val="27AE60"/>
                </a:solidFill>
              </a:rPr>
              <a:t>▲ $415k</a:t>
            </a:r>
            <a:r>
              <a:rPr sz="850" b="0">
                <a:solidFill>
                  <a:srgbClr val="E8ECF1"/>
                </a:solidFill>
              </a:rPr>
              <a:t>  Growth Reserve</a:t>
            </a:r>
          </a:p>
        </p:txBody>
      </p:sp>
      <p:sp>
        <p:nvSpPr>
          <p:cNvPr id="19" name="Rounded Rectangle 18"/>
          <p:cNvSpPr/>
          <p:nvPr/>
        </p:nvSpPr>
        <p:spPr>
          <a:xfrm>
            <a:off x="2740091" y="5897880"/>
            <a:ext cx="2145731" cy="4114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785811" y="5923280"/>
            <a:ext cx="2054291" cy="25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0091" y="5974080"/>
            <a:ext cx="2145731" cy="335280"/>
          </a:xfrm>
          <a:prstGeom prst="rect">
            <a:avLst/>
          </a:prstGeom>
          <a:noFill/>
        </p:spPr>
        <p:txBody>
          <a:bodyPr wrap="none">
            <a:spAutoFit/>
          </a:bodyPr>
          <a:lstStyle/>
          <a:p>
            <a:pPr algn="ctr"/>
            <a:r>
              <a:rPr sz="1300" b="1">
                <a:solidFill>
                  <a:srgbClr val="27AE60"/>
                </a:solidFill>
              </a:rPr>
              <a:t>▼ 10-12%</a:t>
            </a:r>
            <a:r>
              <a:rPr sz="850" b="0">
                <a:solidFill>
                  <a:srgbClr val="E8ECF1"/>
                </a:solidFill>
              </a:rPr>
              <a:t>  COGS Reduction</a:t>
            </a:r>
          </a:p>
        </p:txBody>
      </p:sp>
      <p:sp>
        <p:nvSpPr>
          <p:cNvPr id="22" name="Rounded Rectangle 21"/>
          <p:cNvSpPr/>
          <p:nvPr/>
        </p:nvSpPr>
        <p:spPr>
          <a:xfrm>
            <a:off x="5022982" y="5897880"/>
            <a:ext cx="2145731" cy="4114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68702" y="5923280"/>
            <a:ext cx="2054291" cy="25400"/>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2982" y="5974080"/>
            <a:ext cx="2145731" cy="335280"/>
          </a:xfrm>
          <a:prstGeom prst="rect">
            <a:avLst/>
          </a:prstGeom>
          <a:noFill/>
        </p:spPr>
        <p:txBody>
          <a:bodyPr wrap="none">
            <a:spAutoFit/>
          </a:bodyPr>
          <a:lstStyle/>
          <a:p>
            <a:pPr algn="ctr"/>
            <a:r>
              <a:rPr sz="1300" b="1">
                <a:solidFill>
                  <a:srgbClr val="D4A01E"/>
                </a:solidFill>
              </a:rPr>
              <a:t>3×</a:t>
            </a:r>
            <a:r>
              <a:rPr sz="850" b="0">
                <a:solidFill>
                  <a:srgbClr val="E8ECF1"/>
                </a:solidFill>
              </a:rPr>
              <a:t>  Throughput</a:t>
            </a:r>
          </a:p>
        </p:txBody>
      </p:sp>
      <p:sp>
        <p:nvSpPr>
          <p:cNvPr id="25" name="Rounded Rectangle 24"/>
          <p:cNvSpPr/>
          <p:nvPr/>
        </p:nvSpPr>
        <p:spPr>
          <a:xfrm>
            <a:off x="7305873" y="5897880"/>
            <a:ext cx="2145731" cy="4114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51593" y="5923280"/>
            <a:ext cx="2054291" cy="25400"/>
          </a:xfrm>
          <a:prstGeom prst="rect">
            <a:avLst/>
          </a:prstGeom>
          <a:solidFill>
            <a:srgbClr val="1A5C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05873" y="5974080"/>
            <a:ext cx="2145731" cy="335280"/>
          </a:xfrm>
          <a:prstGeom prst="rect">
            <a:avLst/>
          </a:prstGeom>
          <a:noFill/>
        </p:spPr>
        <p:txBody>
          <a:bodyPr wrap="none">
            <a:spAutoFit/>
          </a:bodyPr>
          <a:lstStyle/>
          <a:p>
            <a:pPr algn="ctr"/>
            <a:r>
              <a:rPr sz="1300" b="1">
                <a:solidFill>
                  <a:srgbClr val="1A5C8A"/>
                </a:solidFill>
              </a:rPr>
              <a:t>80%</a:t>
            </a:r>
            <a:r>
              <a:rPr sz="850" b="0">
                <a:solidFill>
                  <a:srgbClr val="E8ECF1"/>
                </a:solidFill>
              </a:rPr>
              <a:t>  Bid Time Saved</a:t>
            </a:r>
          </a:p>
        </p:txBody>
      </p:sp>
      <p:sp>
        <p:nvSpPr>
          <p:cNvPr id="28" name="Rounded Rectangle 27"/>
          <p:cNvSpPr/>
          <p:nvPr/>
        </p:nvSpPr>
        <p:spPr>
          <a:xfrm>
            <a:off x="9588764" y="5897880"/>
            <a:ext cx="2145731" cy="411480"/>
          </a:xfrm>
          <a:prstGeom prst="roundRect">
            <a:avLst/>
          </a:prstGeom>
          <a:solidFill>
            <a:srgbClr val="0B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634484" y="5923280"/>
            <a:ext cx="2054291" cy="254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88764" y="5974080"/>
            <a:ext cx="2145731" cy="335280"/>
          </a:xfrm>
          <a:prstGeom prst="rect">
            <a:avLst/>
          </a:prstGeom>
          <a:noFill/>
        </p:spPr>
        <p:txBody>
          <a:bodyPr wrap="none">
            <a:spAutoFit/>
          </a:bodyPr>
          <a:lstStyle/>
          <a:p>
            <a:pPr algn="ctr"/>
            <a:r>
              <a:rPr sz="1300" b="1">
                <a:solidFill>
                  <a:srgbClr val="27AE60"/>
                </a:solidFill>
              </a:rPr>
              <a:t>45-50%</a:t>
            </a:r>
            <a:r>
              <a:rPr sz="850" b="0">
                <a:solidFill>
                  <a:srgbClr val="E8ECF1"/>
                </a:solidFill>
              </a:rPr>
              <a:t>  Gross Margins</a:t>
            </a:r>
          </a:p>
        </p:txBody>
      </p:sp>
      <p:sp>
        <p:nvSpPr>
          <p:cNvPr id="31" name="Rounded Rectangle 30"/>
          <p:cNvSpPr/>
          <p:nvPr/>
        </p:nvSpPr>
        <p:spPr>
          <a:xfrm>
            <a:off x="457200" y="6446520"/>
            <a:ext cx="11277295" cy="228600"/>
          </a:xfrm>
          <a:prstGeom prst="roundRect">
            <a:avLst/>
          </a:prstGeom>
          <a:solidFill>
            <a:srgbClr val="0F2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6537960"/>
            <a:ext cx="50800" cy="45720"/>
          </a:xfrm>
          <a:prstGeom prst="rect">
            <a:avLst/>
          </a:prstGeom>
          <a:solidFill>
            <a:srgbClr val="D4A0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6501384"/>
            <a:ext cx="4572000" cy="274320"/>
          </a:xfrm>
          <a:prstGeom prst="rect">
            <a:avLst/>
          </a:prstGeom>
          <a:noFill/>
        </p:spPr>
        <p:txBody>
          <a:bodyPr wrap="square">
            <a:spAutoFit/>
          </a:bodyPr>
          <a:lstStyle/>
          <a:p>
            <a:pPr algn="l">
              <a:spcAft>
                <a:spcPts val="0"/>
              </a:spcAft>
              <a:defRPr sz="1100" b="1">
                <a:solidFill>
                  <a:srgbClr val="D4A01E"/>
                </a:solidFill>
              </a:defRPr>
            </a:pPr>
            <a:r>
              <a:t>MISSION IMPACT  –  The Sustainable Morales Legacy</a:t>
            </a:r>
          </a:p>
        </p:txBody>
      </p:sp>
      <p:sp>
        <p:nvSpPr>
          <p:cNvPr id="34" name="TextBox 33"/>
          <p:cNvSpPr txBox="1"/>
          <p:nvPr/>
        </p:nvSpPr>
        <p:spPr>
          <a:xfrm>
            <a:off x="822960" y="6739128"/>
            <a:ext cx="10454335" cy="-137160"/>
          </a:xfrm>
          <a:prstGeom prst="rect">
            <a:avLst/>
          </a:prstGeom>
          <a:noFill/>
        </p:spPr>
        <p:txBody>
          <a:bodyPr wrap="square">
            <a:spAutoFit/>
          </a:bodyPr>
          <a:lstStyle/>
          <a:p>
            <a:pPr algn="l">
              <a:spcAft>
                <a:spcPts val="0"/>
              </a:spcAft>
              <a:defRPr sz="950" b="0">
                <a:solidFill>
                  <a:srgbClr val="E8ECF1"/>
                </a:solidFill>
              </a:defRPr>
            </a:pPr>
            <a:r>
              <a:t>“TDP is at a crossroads: remain a high-performance job for the founders, or become a scalable enterprise asset for the family. By professionalizing today, we are ensuring that the Morales legacy is secured by systems—not just mental math—and remains the gold standard in Houston for the next 40 years.”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